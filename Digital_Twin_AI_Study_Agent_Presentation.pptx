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4114800"/>
          </a:xfrm>
          <a:prstGeom prst="rect">
            <a:avLst/>
          </a:prstGeom>
          <a:noFill/>
        </p:spPr>
        <p:txBody>
          <a:bodyPr wrap="square">
            <a:spAutoFit/>
          </a:bodyPr>
          <a:lstStyle/>
          <a:p>
            <a:pPr>
              <a:defRPr sz="1400" b="1">
                <a:solidFill>
                  <a:srgbClr val="38BDF8"/>
                </a:solidFill>
              </a:defRPr>
            </a:pPr>
            <a:r>
              <a:t>STUDY AI AGENT // MINI PROJECT</a:t>
            </a:r>
          </a:p>
          <a:p>
            <a:pPr>
              <a:defRPr sz="5400" b="1">
                <a:solidFill>
                  <a:srgbClr val="F8FAFC"/>
                </a:solidFill>
              </a:defRPr>
            </a:pPr>
            <a:r>
              <a:t>Digital Twin</a:t>
            </a:r>
          </a:p>
          <a:p>
            <a:pPr>
              <a:spcBef>
                <a:spcPts val="800"/>
              </a:spcBef>
              <a:defRPr sz="2200">
                <a:solidFill>
                  <a:srgbClr val="F59E0B"/>
                </a:solidFill>
              </a:defRPr>
            </a:pPr>
            <a:r>
              <a:t>Autonomous AI Study Agent for Java DSA &amp; Technical Interview Preparation</a:t>
            </a:r>
          </a:p>
          <a:p>
            <a:pPr>
              <a:spcBef>
                <a:spcPts val="1600"/>
              </a:spcBef>
              <a:defRPr sz="1500">
                <a:solidFill>
                  <a:srgbClr val="A0AFC8"/>
                </a:solidFill>
              </a:defRPr>
            </a:pPr>
            <a:r>
              <a:t>Ingests past quiz history to model learner mastery via mathematical recency-weighted decay, mines live LeetCode Java coding patterns, and synthesizes a 7-day adaptive revision runway with 0% duplicate practice challenges.</a:t>
            </a:r>
          </a:p>
        </p:txBody>
      </p:sp>
      <p:sp>
        <p:nvSpPr>
          <p:cNvPr id="5" name="Rounded Rectangle 4"/>
          <p:cNvSpPr/>
          <p:nvPr/>
        </p:nvSpPr>
        <p:spPr>
          <a:xfrm>
            <a:off x="1097280" y="5303520"/>
            <a:ext cx="2011680" cy="4114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38BDF8"/>
                </a:solidFill>
              </a:defRPr>
            </a:pPr>
            <a:r>
              <a:t>Recency-Decay Math (tau = 7d)</a:t>
            </a:r>
          </a:p>
        </p:txBody>
      </p:sp>
      <p:sp>
        <p:nvSpPr>
          <p:cNvPr id="6" name="Rounded Rectangle 5"/>
          <p:cNvSpPr/>
          <p:nvPr/>
        </p:nvSpPr>
        <p:spPr>
          <a:xfrm>
            <a:off x="3200400" y="5303520"/>
            <a:ext cx="2011680" cy="4114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38BDF8"/>
                </a:solidFill>
              </a:defRPr>
            </a:pPr>
            <a:r>
              <a:t>LeetCode Java Scraping</a:t>
            </a:r>
          </a:p>
        </p:txBody>
      </p:sp>
      <p:sp>
        <p:nvSpPr>
          <p:cNvPr id="7" name="Rounded Rectangle 6"/>
          <p:cNvSpPr/>
          <p:nvPr/>
        </p:nvSpPr>
        <p:spPr>
          <a:xfrm>
            <a:off x="5303520" y="5303520"/>
            <a:ext cx="2011680" cy="4114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38BDF8"/>
                </a:solidFill>
              </a:defRPr>
            </a:pPr>
            <a:r>
              <a:t>FastAPI Async</a:t>
            </a:r>
          </a:p>
        </p:txBody>
      </p:sp>
      <p:sp>
        <p:nvSpPr>
          <p:cNvPr id="8" name="Rounded Rectangle 7"/>
          <p:cNvSpPr/>
          <p:nvPr/>
        </p:nvSpPr>
        <p:spPr>
          <a:xfrm>
            <a:off x="7406640" y="5303520"/>
            <a:ext cx="2011680" cy="4114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38BDF8"/>
                </a:solidFill>
              </a:defRPr>
            </a:pPr>
            <a:r>
              <a:t>Pydantic Guardrail</a:t>
            </a:r>
          </a:p>
        </p:txBody>
      </p:sp>
      <p:sp>
        <p:nvSpPr>
          <p:cNvPr id="9" name="Rounded Rectangle 8"/>
          <p:cNvSpPr/>
          <p:nvPr/>
        </p:nvSpPr>
        <p:spPr>
          <a:xfrm>
            <a:off x="9509760" y="5303520"/>
            <a:ext cx="2011680" cy="4114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38BDF8"/>
                </a:solidFill>
              </a:defRPr>
            </a:pPr>
            <a:r>
              <a:t>Smoothed Terrain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PROJECT FOUNDATION</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Problem Statement, Objective &amp; Scope</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02</a:t>
            </a:r>
          </a:p>
        </p:txBody>
      </p:sp>
      <p:sp>
        <p:nvSpPr>
          <p:cNvPr id="6" name="Rounded Rectangle 5"/>
          <p:cNvSpPr/>
          <p:nvPr/>
        </p:nvSpPr>
        <p:spPr>
          <a:xfrm>
            <a:off x="731520" y="1371600"/>
            <a:ext cx="5120640" cy="2011680"/>
          </a:xfrm>
          <a:prstGeom prst="roundRect">
            <a:avLst/>
          </a:prstGeom>
          <a:solidFill>
            <a:srgbClr val="121C34"/>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43F5E"/>
                </a:solidFill>
              </a:defRPr>
            </a:pPr>
            <a:r>
              <a:t>01 | Problem Statement</a:t>
            </a:r>
          </a:p>
          <a:p>
            <a:pPr>
              <a:spcBef>
                <a:spcPts val="800"/>
              </a:spcBef>
              <a:defRPr sz="1200">
                <a:solidFill>
                  <a:srgbClr val="A0AFC8"/>
                </a:solidFill>
              </a:defRPr>
            </a:pPr>
            <a:r>
              <a:t>Students practice hundreds of coding questions but cannot convert past attempts into targeted action. Critical weak topics stay hidden behind static percentage scores, leading to generic, unoptimized revision instead of drilling actual gaps.</a:t>
            </a:r>
          </a:p>
        </p:txBody>
      </p:sp>
      <p:sp>
        <p:nvSpPr>
          <p:cNvPr id="7" name="Rounded Rectangle 6"/>
          <p:cNvSpPr/>
          <p:nvPr/>
        </p:nvSpPr>
        <p:spPr>
          <a:xfrm>
            <a:off x="6217920" y="1371600"/>
            <a:ext cx="5212080" cy="2011680"/>
          </a:xfrm>
          <a:prstGeom prst="roundRect">
            <a:avLst/>
          </a:prstGeom>
          <a:solidFill>
            <a:srgbClr val="121C3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02 | Core Objective</a:t>
            </a:r>
          </a:p>
          <a:p>
            <a:pPr>
              <a:spcBef>
                <a:spcPts val="800"/>
              </a:spcBef>
              <a:defRPr sz="1200">
                <a:solidFill>
                  <a:srgbClr val="A0AFC8"/>
                </a:solidFill>
              </a:defRPr>
            </a:pPr>
            <a:r>
              <a:t>Design an autonomous Digital Twin study agent that ingests granular attempt history, detects weak topics via exponential recency decay, and auto-synthesizes a 7-day revision runway with authentic Java LeetCode practice questions.</a:t>
            </a:r>
          </a:p>
        </p:txBody>
      </p:sp>
      <p:sp>
        <p:nvSpPr>
          <p:cNvPr id="8" name="Rounded Rectangle 7"/>
          <p:cNvSpPr/>
          <p:nvPr/>
        </p:nvSpPr>
        <p:spPr>
          <a:xfrm>
            <a:off x="731520" y="3566160"/>
            <a:ext cx="10698480" cy="256032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8BDF8"/>
                </a:solidFill>
              </a:defRPr>
            </a:pPr>
            <a:r>
              <a:t>Scope of the Project (Technical Deliverables)</a:t>
            </a:r>
          </a:p>
          <a:p>
            <a:pPr>
              <a:spcBef>
                <a:spcPts val="500"/>
              </a:spcBef>
              <a:defRPr sz="1150">
                <a:solidFill>
                  <a:srgbClr val="F8FAFC"/>
                </a:solidFill>
              </a:defRPr>
            </a:pPr>
            <a:r>
              <a:t>[1] Source-of-Truth Ingestion: Ingest student quiz history (topic, question, is_correct, time_spent, timestamp).</a:t>
            </a:r>
          </a:p>
          <a:p>
            <a:pPr>
              <a:spcBef>
                <a:spcPts val="500"/>
              </a:spcBef>
              <a:defRPr sz="1150">
                <a:solidFill>
                  <a:srgbClr val="F8FAFC"/>
                </a:solidFill>
              </a:defRPr>
            </a:pPr>
            <a:r>
              <a:t>[2] Recency-Weighted Decay Analytics: Derive mastery via exponential decay (tau = 7 days) and failure streak penalties.</a:t>
            </a:r>
          </a:p>
          <a:p>
            <a:pPr>
              <a:spcBef>
                <a:spcPts val="500"/>
              </a:spcBef>
              <a:defRPr sz="1150">
                <a:solidFill>
                  <a:srgbClr val="F8FAFC"/>
                </a:solidFill>
              </a:defRPr>
            </a:pPr>
            <a:r>
              <a:t>[3] LeetCode Java Web Scraping: Mine authentic LeetCode problem patterns, Java starter code, constraints, and test cases.</a:t>
            </a:r>
          </a:p>
          <a:p>
            <a:pPr>
              <a:spcBef>
                <a:spcPts val="500"/>
              </a:spcBef>
              <a:defRPr sz="1150">
                <a:solidFill>
                  <a:srgbClr val="F8FAFC"/>
                </a:solidFill>
              </a:defRPr>
            </a:pPr>
            <a:r>
              <a:t>[4] Deterministic AI Revision Runway: Auto-generate a 7-day study plan allocating ~70% study time to ranked weak topics.</a:t>
            </a:r>
          </a:p>
          <a:p>
            <a:pPr>
              <a:spcBef>
                <a:spcPts val="500"/>
              </a:spcBef>
              <a:defRPr sz="1150">
                <a:solidFill>
                  <a:srgbClr val="F8FAFC"/>
                </a:solidFill>
              </a:defRPr>
            </a:pPr>
            <a:r>
              <a:t>[5] 0% Duplicate Practice Guardrail: Cryptographic SHA-256 deduplication ensuring no duplicate problems per student per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SYSTEM SPECIFICATIONS</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Hardware &amp; Software Requirements</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03</a:t>
            </a:r>
          </a:p>
        </p:txBody>
      </p:sp>
      <p:sp>
        <p:nvSpPr>
          <p:cNvPr id="6" name="Rounded Rectangle 5"/>
          <p:cNvSpPr/>
          <p:nvPr/>
        </p:nvSpPr>
        <p:spPr>
          <a:xfrm>
            <a:off x="731520" y="1371600"/>
            <a:ext cx="5120640" cy="47548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HARDWARE REQUIREMENTS</a:t>
            </a:r>
          </a:p>
          <a:p>
            <a:pPr>
              <a:spcBef>
                <a:spcPts val="1000"/>
              </a:spcBef>
              <a:defRPr sz="1200">
                <a:solidFill>
                  <a:srgbClr val="A0AFC8"/>
                </a:solidFill>
              </a:defRPr>
            </a:pPr>
            <a:r>
              <a:t>* Processor: Intel Core i5 / AMD Ryzen 5 or higher</a:t>
            </a:r>
          </a:p>
          <a:p>
            <a:pPr>
              <a:spcBef>
                <a:spcPts val="1000"/>
              </a:spcBef>
              <a:defRPr sz="1200">
                <a:solidFill>
                  <a:srgbClr val="A0AFC8"/>
                </a:solidFill>
              </a:defRPr>
            </a:pPr>
            <a:r>
              <a:t>* RAM: 8 GB minimum (16 GB recommended for local testing)</a:t>
            </a:r>
          </a:p>
          <a:p>
            <a:pPr>
              <a:spcBef>
                <a:spcPts val="1000"/>
              </a:spcBef>
              <a:defRPr sz="1200">
                <a:solidFill>
                  <a:srgbClr val="A0AFC8"/>
                </a:solidFill>
              </a:defRPr>
            </a:pPr>
            <a:r>
              <a:t>* Storage: 256 GB SSD (for DB storage, scraper cache &amp; logs)</a:t>
            </a:r>
          </a:p>
          <a:p>
            <a:pPr>
              <a:spcBef>
                <a:spcPts val="1000"/>
              </a:spcBef>
              <a:defRPr sz="1200">
                <a:solidFill>
                  <a:srgbClr val="A0AFC8"/>
                </a:solidFill>
              </a:defRPr>
            </a:pPr>
            <a:r>
              <a:t>* GPU Support: Optional — required only for local open-source LLM inference (Ollama/vLLM)</a:t>
            </a:r>
          </a:p>
          <a:p>
            <a:pPr>
              <a:spcBef>
                <a:spcPts val="1000"/>
              </a:spcBef>
              <a:defRPr sz="1200">
                <a:solidFill>
                  <a:srgbClr val="A0AFC8"/>
                </a:solidFill>
              </a:defRPr>
            </a:pPr>
            <a:r>
              <a:t>* Network: Broadband internet connection for LeetCode GraphQL &amp; LLM API calls</a:t>
            </a:r>
          </a:p>
          <a:p>
            <a:pPr>
              <a:spcBef>
                <a:spcPts val="1000"/>
              </a:spcBef>
              <a:defRPr sz="1200">
                <a:solidFill>
                  <a:srgbClr val="A0AFC8"/>
                </a:solidFill>
              </a:defRPr>
            </a:pPr>
            <a:r>
              <a:t>* Display: 1080p Full HD monitor for high-density instrument telemetry dashboard</a:t>
            </a:r>
          </a:p>
        </p:txBody>
      </p:sp>
      <p:sp>
        <p:nvSpPr>
          <p:cNvPr id="7" name="Rounded Rectangle 6"/>
          <p:cNvSpPr/>
          <p:nvPr/>
        </p:nvSpPr>
        <p:spPr>
          <a:xfrm>
            <a:off x="6217920" y="1371600"/>
            <a:ext cx="5212080" cy="475488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8BDF8"/>
                </a:solidFill>
              </a:defRPr>
            </a:pPr>
            <a:r>
              <a:t>SOFTWARE &amp; LIBRARIES STACK</a:t>
            </a:r>
          </a:p>
          <a:p>
            <a:pPr>
              <a:spcBef>
                <a:spcPts val="1000"/>
              </a:spcBef>
              <a:defRPr sz="1200">
                <a:solidFill>
                  <a:srgbClr val="A0AFC8"/>
                </a:solidFill>
              </a:defRPr>
            </a:pPr>
            <a:r>
              <a:t>* Core Language: Python 3.10+ (FastAPI async engine) &amp; JavaScript (ES6+)</a:t>
            </a:r>
          </a:p>
          <a:p>
            <a:pPr>
              <a:spcBef>
                <a:spcPts val="1000"/>
              </a:spcBef>
              <a:defRPr sz="1200">
                <a:solidFill>
                  <a:srgbClr val="A0AFC8"/>
                </a:solidFill>
              </a:defRPr>
            </a:pPr>
            <a:r>
              <a:t>* Web Scraping &amp; Mining: BeautifulSoup4, httpx.AsyncClient, LeetCode Public GraphQL</a:t>
            </a:r>
          </a:p>
          <a:p>
            <a:pPr>
              <a:spcBef>
                <a:spcPts val="1000"/>
              </a:spcBef>
              <a:defRPr sz="1200">
                <a:solidFill>
                  <a:srgbClr val="A0AFC8"/>
                </a:solidFill>
              </a:defRPr>
            </a:pPr>
            <a:r>
              <a:t>* AI Agent &amp; Validation: Pydantic v2 (Strict Schema Contract), Gemini / OpenAI API</a:t>
            </a:r>
          </a:p>
          <a:p>
            <a:pPr>
              <a:spcBef>
                <a:spcPts val="1000"/>
              </a:spcBef>
              <a:defRPr sz="1200">
                <a:solidFill>
                  <a:srgbClr val="A0AFC8"/>
                </a:solidFill>
              </a:defRPr>
            </a:pPr>
            <a:r>
              <a:t>* Backend Framework: FastAPI (async non-blocking routes, background job polling)</a:t>
            </a:r>
          </a:p>
          <a:p>
            <a:pPr>
              <a:spcBef>
                <a:spcPts val="1000"/>
              </a:spcBef>
              <a:defRPr sz="1200">
                <a:solidFill>
                  <a:srgbClr val="A0AFC8"/>
                </a:solidFill>
              </a:defRPr>
            </a:pPr>
            <a:r>
              <a:t>* Data Persistence: Async SQLite (aiosqlite) with MySQL &amp; MongoDB schemas</a:t>
            </a:r>
          </a:p>
          <a:p>
            <a:pPr>
              <a:spcBef>
                <a:spcPts val="1000"/>
              </a:spcBef>
              <a:defRPr sz="1200">
                <a:solidFill>
                  <a:srgbClr val="A0AFC8"/>
                </a:solidFill>
              </a:defRPr>
            </a:pPr>
            <a:r>
              <a:t>* Frontend UI / UX: React + Vite, Bespoke Instrument CSS (No generic Tailwind)</a:t>
            </a:r>
          </a:p>
          <a:p>
            <a:pPr>
              <a:spcBef>
                <a:spcPts val="1000"/>
              </a:spcBef>
              <a:defRPr sz="1200">
                <a:solidFill>
                  <a:srgbClr val="A0AFC8"/>
                </a:solidFill>
              </a:defRPr>
            </a:pPr>
            <a:r>
              <a:t>* Testing &amp; Tooling: PyTest, PyTest-Asyncio, Git/GitHub, Postman, VS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ENGINEERING ROADMAP</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Architecture, Process Flow &amp; Timeline</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04</a:t>
            </a:r>
          </a:p>
        </p:txBody>
      </p:sp>
      <p:sp>
        <p:nvSpPr>
          <p:cNvPr id="6" name="Rounded Rectangle 5"/>
          <p:cNvSpPr/>
          <p:nvPr/>
        </p:nvSpPr>
        <p:spPr>
          <a:xfrm>
            <a:off x="73152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1. Ingestion</a:t>
            </a:r>
          </a:p>
          <a:p>
            <a:pPr>
              <a:defRPr sz="950">
                <a:solidFill>
                  <a:srgbClr val="A0AFC8"/>
                </a:solidFill>
              </a:defRPr>
            </a:pPr>
            <a:r>
              <a:t>Quiz attempt history logged to DB</a:t>
            </a:r>
          </a:p>
        </p:txBody>
      </p:sp>
      <p:sp>
        <p:nvSpPr>
          <p:cNvPr id="7" name="Rounded Rectangle 6"/>
          <p:cNvSpPr/>
          <p:nvPr/>
        </p:nvSpPr>
        <p:spPr>
          <a:xfrm>
            <a:off x="251460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2. Recency Decay</a:t>
            </a:r>
          </a:p>
          <a:p>
            <a:pPr>
              <a:defRPr sz="950">
                <a:solidFill>
                  <a:srgbClr val="A0AFC8"/>
                </a:solidFill>
              </a:defRPr>
            </a:pPr>
            <a:r>
              <a:t>tau=7d decay &amp; weakness ranking</a:t>
            </a:r>
          </a:p>
        </p:txBody>
      </p:sp>
      <p:sp>
        <p:nvSpPr>
          <p:cNvPr id="8" name="Rounded Rectangle 7"/>
          <p:cNvSpPr/>
          <p:nvPr/>
        </p:nvSpPr>
        <p:spPr>
          <a:xfrm>
            <a:off x="429768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3. LeetCode Scrape</a:t>
            </a:r>
          </a:p>
          <a:p>
            <a:pPr>
              <a:defRPr sz="950">
                <a:solidFill>
                  <a:srgbClr val="A0AFC8"/>
                </a:solidFill>
              </a:defRPr>
            </a:pPr>
            <a:r>
              <a:t>Mine Java question patterns</a:t>
            </a:r>
          </a:p>
        </p:txBody>
      </p:sp>
      <p:sp>
        <p:nvSpPr>
          <p:cNvPr id="9" name="Rounded Rectangle 8"/>
          <p:cNvSpPr/>
          <p:nvPr/>
        </p:nvSpPr>
        <p:spPr>
          <a:xfrm>
            <a:off x="608076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4. Deterministic AI</a:t>
            </a:r>
          </a:p>
          <a:p>
            <a:pPr>
              <a:defRPr sz="950">
                <a:solidFill>
                  <a:srgbClr val="A0AFC8"/>
                </a:solidFill>
              </a:defRPr>
            </a:pPr>
            <a:r>
              <a:t>Pydantic-validated 7-day plan</a:t>
            </a:r>
          </a:p>
        </p:txBody>
      </p:sp>
      <p:sp>
        <p:nvSpPr>
          <p:cNvPr id="10" name="Rounded Rectangle 9"/>
          <p:cNvSpPr/>
          <p:nvPr/>
        </p:nvSpPr>
        <p:spPr>
          <a:xfrm>
            <a:off x="786384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5. Deduplication</a:t>
            </a:r>
          </a:p>
          <a:p>
            <a:pPr>
              <a:defRPr sz="950">
                <a:solidFill>
                  <a:srgbClr val="A0AFC8"/>
                </a:solidFill>
              </a:defRPr>
            </a:pPr>
            <a:r>
              <a:t>0% duplicate questions check</a:t>
            </a:r>
          </a:p>
        </p:txBody>
      </p:sp>
      <p:sp>
        <p:nvSpPr>
          <p:cNvPr id="11" name="Rounded Rectangle 10"/>
          <p:cNvSpPr/>
          <p:nvPr/>
        </p:nvSpPr>
        <p:spPr>
          <a:xfrm>
            <a:off x="9646920" y="1371600"/>
            <a:ext cx="1645920" cy="10972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6. Instrument UI</a:t>
            </a:r>
          </a:p>
          <a:p>
            <a:pPr>
              <a:defRPr sz="950">
                <a:solidFill>
                  <a:srgbClr val="A0AFC8"/>
                </a:solidFill>
              </a:defRPr>
            </a:pPr>
            <a:r>
              <a:t>Readiness dial &amp; terrain curve</a:t>
            </a:r>
          </a:p>
        </p:txBody>
      </p:sp>
      <p:sp>
        <p:nvSpPr>
          <p:cNvPr id="12" name="TextBox 11"/>
          <p:cNvSpPr txBox="1"/>
          <p:nvPr/>
        </p:nvSpPr>
        <p:spPr>
          <a:xfrm>
            <a:off x="731520" y="2651760"/>
            <a:ext cx="10698480" cy="365760"/>
          </a:xfrm>
          <a:prstGeom prst="rect">
            <a:avLst/>
          </a:prstGeom>
          <a:noFill/>
        </p:spPr>
        <p:txBody>
          <a:bodyPr wrap="none">
            <a:spAutoFit/>
          </a:bodyPr>
          <a:lstStyle/>
          <a:p>
            <a:pPr>
              <a:defRPr sz="1300" b="1">
                <a:solidFill>
                  <a:srgbClr val="F59E0B"/>
                </a:solidFill>
              </a:defRPr>
            </a:pPr>
            <a:r>
              <a:t>PROJECT TIMELINE (8 WEEKS IN TWO INDEPENDENTLY-DELIVERABLE HALVES)</a:t>
            </a:r>
          </a:p>
        </p:txBody>
      </p:sp>
      <p:sp>
        <p:nvSpPr>
          <p:cNvPr id="13" name="Rounded Rectangle 12"/>
          <p:cNvSpPr/>
          <p:nvPr/>
        </p:nvSpPr>
        <p:spPr>
          <a:xfrm>
            <a:off x="731520" y="3108960"/>
            <a:ext cx="5120640" cy="310896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DELIVERABLE HALF 1 (WEEKS 1 - 4)</a:t>
            </a:r>
          </a:p>
          <a:p>
            <a:pPr>
              <a:defRPr sz="1050">
                <a:solidFill>
                  <a:srgbClr val="64748B"/>
                </a:solidFill>
              </a:defRPr>
            </a:pPr>
            <a:r>
              <a:t>Core Analytics, LeetCode Scraper &amp; Instrument Panel</a:t>
            </a:r>
          </a:p>
          <a:p>
            <a:pPr>
              <a:spcBef>
                <a:spcPts val="600"/>
              </a:spcBef>
              <a:defRPr sz="1100">
                <a:solidFill>
                  <a:srgbClr val="F8FAFC"/>
                </a:solidFill>
              </a:defRPr>
            </a:pPr>
            <a:r>
              <a:t>* Week 1: Data schema &amp; quiz attempts source-of-truth ingestion engine.</a:t>
            </a:r>
          </a:p>
          <a:p>
            <a:pPr>
              <a:spcBef>
                <a:spcPts val="600"/>
              </a:spcBef>
              <a:defRPr sz="1100">
                <a:solidFill>
                  <a:srgbClr val="F8FAFC"/>
                </a:solidFill>
              </a:defRPr>
            </a:pPr>
            <a:r>
              <a:t>* Week 2: LeetCode Java question scraper &amp; offline resilient pattern catalog.</a:t>
            </a:r>
          </a:p>
          <a:p>
            <a:pPr>
              <a:spcBef>
                <a:spcPts val="600"/>
              </a:spcBef>
              <a:defRPr sz="1100">
                <a:solidFill>
                  <a:srgbClr val="F8FAFC"/>
                </a:solidFill>
              </a:defRPr>
            </a:pPr>
            <a:r>
              <a:t>* Week 3: FastAPI /topics/analyze with recency-weighted decay mathematics.</a:t>
            </a:r>
          </a:p>
          <a:p>
            <a:pPr>
              <a:spcBef>
                <a:spcPts val="600"/>
              </a:spcBef>
              <a:defRPr sz="1100">
                <a:solidFill>
                  <a:srgbClr val="F8FAFC"/>
                </a:solidFill>
              </a:defRPr>
            </a:pPr>
            <a:r>
              <a:t>* Week 4: Dark instrument dashboard with signature smoothed terrain curve.</a:t>
            </a:r>
          </a:p>
        </p:txBody>
      </p:sp>
      <p:sp>
        <p:nvSpPr>
          <p:cNvPr id="14" name="Rounded Rectangle 13"/>
          <p:cNvSpPr/>
          <p:nvPr/>
        </p:nvSpPr>
        <p:spPr>
          <a:xfrm>
            <a:off x="6217920" y="3108960"/>
            <a:ext cx="5212080" cy="3108960"/>
          </a:xfrm>
          <a:prstGeom prst="roundRect">
            <a:avLst/>
          </a:prstGeom>
          <a:solidFill>
            <a:srgbClr val="121C3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DELIVERABLE HALF 2 (WEEKS 5 - 8)</a:t>
            </a:r>
          </a:p>
          <a:p>
            <a:pPr>
              <a:defRPr sz="1050">
                <a:solidFill>
                  <a:srgbClr val="64748B"/>
                </a:solidFill>
              </a:defRPr>
            </a:pPr>
            <a:r>
              <a:t>Deterministic AI Agent, Runway &amp; Verification Suite</a:t>
            </a:r>
          </a:p>
          <a:p>
            <a:pPr>
              <a:spcBef>
                <a:spcPts val="600"/>
              </a:spcBef>
              <a:defRPr sz="1100">
                <a:solidFill>
                  <a:srgbClr val="F8FAFC"/>
                </a:solidFill>
              </a:defRPr>
            </a:pPr>
            <a:r>
              <a:t>* Week 5: Deterministic LLM planner with Pydantic validation &amp; retry loops.</a:t>
            </a:r>
          </a:p>
          <a:p>
            <a:pPr>
              <a:spcBef>
                <a:spcPts val="600"/>
              </a:spcBef>
              <a:defRPr sz="1100">
                <a:solidFill>
                  <a:srgbClr val="F8FAFC"/>
                </a:solidFill>
              </a:defRPr>
            </a:pPr>
            <a:r>
              <a:t>* Week 6: 7-Day revision runway with 70% dynamic weak-topic allocation.</a:t>
            </a:r>
          </a:p>
          <a:p>
            <a:pPr>
              <a:spcBef>
                <a:spcPts val="600"/>
              </a:spcBef>
              <a:defRPr sz="1100">
                <a:solidFill>
                  <a:srgbClr val="F8FAFC"/>
                </a:solidFill>
              </a:defRPr>
            </a:pPr>
            <a:r>
              <a:t>* Week 7: Non-duplicate practice question drawer with Java code runner.</a:t>
            </a:r>
          </a:p>
          <a:p>
            <a:pPr>
              <a:spcBef>
                <a:spcPts val="600"/>
              </a:spcBef>
              <a:defRPr sz="1100">
                <a:solidFill>
                  <a:srgbClr val="F8FAFC"/>
                </a:solidFill>
              </a:defRPr>
            </a:pPr>
            <a:r>
              <a:t>* Week 8: Async job polling (&gt;2s), latency SLA (&lt;300ms) &amp; automated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DOMAIN-SPECIFIC QUESTION MINING</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LeetCode Java Web Scraping &amp; Practice Pipeline</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05</a:t>
            </a:r>
          </a:p>
        </p:txBody>
      </p:sp>
      <p:sp>
        <p:nvSpPr>
          <p:cNvPr id="6" name="Rounded Rectangle 5"/>
          <p:cNvSpPr/>
          <p:nvPr/>
        </p:nvSpPr>
        <p:spPr>
          <a:xfrm>
            <a:off x="731520" y="1371600"/>
            <a:ext cx="3291840" cy="47548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1. Live GraphQL Scraper</a:t>
            </a:r>
          </a:p>
          <a:p>
            <a:pPr>
              <a:spcBef>
                <a:spcPts val="800"/>
              </a:spcBef>
              <a:defRPr sz="1100">
                <a:solidFill>
                  <a:srgbClr val="A0AFC8"/>
                </a:solidFill>
              </a:defRPr>
            </a:pPr>
            <a:r>
              <a:t>* Connects to LeetCode public GraphQL endpoints using httpx.AsyncClient.</a:t>
            </a:r>
          </a:p>
          <a:p>
            <a:pPr>
              <a:spcBef>
                <a:spcPts val="800"/>
              </a:spcBef>
              <a:defRPr sz="1100">
                <a:solidFill>
                  <a:srgbClr val="A0AFC8"/>
                </a:solidFill>
              </a:defRPr>
            </a:pPr>
            <a:r>
              <a:t>* Scrapes authentic question metadata: title, slug, difficulty (Easy/Med/Hard), and category tags.</a:t>
            </a:r>
          </a:p>
          <a:p>
            <a:pPr>
              <a:spcBef>
                <a:spcPts val="800"/>
              </a:spcBef>
              <a:defRPr sz="1100">
                <a:solidFill>
                  <a:srgbClr val="A0AFC8"/>
                </a:solidFill>
              </a:defRPr>
            </a:pPr>
            <a:r>
              <a:t>* Covers 8 core DSA categories: Arrays, Two Pointers, Sliding Window, Binary Search, Trees, Graphs, DP, Heaps.</a:t>
            </a:r>
          </a:p>
          <a:p>
            <a:pPr>
              <a:spcBef>
                <a:spcPts val="800"/>
              </a:spcBef>
              <a:defRPr sz="1100">
                <a:solidFill>
                  <a:srgbClr val="A0AFC8"/>
                </a:solidFill>
              </a:defRPr>
            </a:pPr>
            <a:r>
              <a:t>* Automatic fallback to curated offline catalog during rate limits or Cloudflare blocks.</a:t>
            </a:r>
          </a:p>
        </p:txBody>
      </p:sp>
      <p:sp>
        <p:nvSpPr>
          <p:cNvPr id="7" name="Rounded Rectangle 6"/>
          <p:cNvSpPr/>
          <p:nvPr/>
        </p:nvSpPr>
        <p:spPr>
          <a:xfrm>
            <a:off x="4389120" y="1371600"/>
            <a:ext cx="3383280" cy="4754880"/>
          </a:xfrm>
          <a:prstGeom prst="roundRect">
            <a:avLst/>
          </a:prstGeom>
          <a:solidFill>
            <a:srgbClr val="121C3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2. Java Template Extraction</a:t>
            </a:r>
          </a:p>
          <a:p>
            <a:pPr>
              <a:spcBef>
                <a:spcPts val="800"/>
              </a:spcBef>
              <a:defRPr sz="1100">
                <a:solidFill>
                  <a:srgbClr val="A0AFC8"/>
                </a:solidFill>
              </a:defRPr>
            </a:pPr>
            <a:r>
              <a:t>* Extracts standard Java method signatures: class Solution { public int[] ... }.</a:t>
            </a:r>
          </a:p>
          <a:p>
            <a:pPr>
              <a:spcBef>
                <a:spcPts val="800"/>
              </a:spcBef>
              <a:defRPr sz="1100">
                <a:solidFill>
                  <a:srgbClr val="A0AFC8"/>
                </a:solidFill>
              </a:defRPr>
            </a:pPr>
            <a:r>
              <a:t>* Includes sample test cases with input/output assertions for automated verification.</a:t>
            </a:r>
          </a:p>
          <a:p>
            <a:pPr>
              <a:spcBef>
                <a:spcPts val="800"/>
              </a:spcBef>
              <a:defRPr sz="1100">
                <a:solidFill>
                  <a:srgbClr val="A0AFC8"/>
                </a:solidFill>
              </a:defRPr>
            </a:pPr>
            <a:r>
              <a:t>* Includes JVM performance tips (e.g. Arrays.sort() dual-pivot quicksort, HashMap capacity sizing).</a:t>
            </a:r>
          </a:p>
          <a:p>
            <a:pPr>
              <a:spcBef>
                <a:spcPts val="800"/>
              </a:spcBef>
              <a:defRPr sz="1100">
                <a:solidFill>
                  <a:srgbClr val="A0AFC8"/>
                </a:solidFill>
              </a:defRPr>
            </a:pPr>
            <a:r>
              <a:t>* Flags Java edge cases (Integer object cache -128..127, 32-bit signed overflow prevention).</a:t>
            </a:r>
          </a:p>
        </p:txBody>
      </p:sp>
      <p:sp>
        <p:nvSpPr>
          <p:cNvPr id="8" name="Rounded Rectangle 7"/>
          <p:cNvSpPr/>
          <p:nvPr/>
        </p:nvSpPr>
        <p:spPr>
          <a:xfrm>
            <a:off x="8138160" y="1371600"/>
            <a:ext cx="3291840" cy="4754880"/>
          </a:xfrm>
          <a:prstGeom prst="roundRect">
            <a:avLst/>
          </a:prstGeom>
          <a:solidFill>
            <a:srgbClr val="121C3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3. 0% Duplicate Guardrail</a:t>
            </a:r>
          </a:p>
          <a:p>
            <a:pPr>
              <a:spcBef>
                <a:spcPts val="800"/>
              </a:spcBef>
              <a:defRPr sz="1100">
                <a:solidFill>
                  <a:srgbClr val="A0AFC8"/>
                </a:solidFill>
              </a:defRPr>
            </a:pPr>
            <a:r>
              <a:t>* Cryptographic SHA-256 fingerprinting on topic and normalized question signatures.</a:t>
            </a:r>
          </a:p>
          <a:p>
            <a:pPr>
              <a:spcBef>
                <a:spcPts val="800"/>
              </a:spcBef>
              <a:defRPr sz="1100">
                <a:solidFill>
                  <a:srgbClr val="A0AFC8"/>
                </a:solidFill>
              </a:defRPr>
            </a:pPr>
            <a:r>
              <a:t>* Maintains persistent question index in SQLite/MySQL per student.</a:t>
            </a:r>
          </a:p>
          <a:p>
            <a:pPr>
              <a:spcBef>
                <a:spcPts val="800"/>
              </a:spcBef>
              <a:defRPr sz="1100">
                <a:solidFill>
                  <a:srgbClr val="A0AFC8"/>
                </a:solidFill>
              </a:defRPr>
            </a:pPr>
            <a:r>
              <a:t>* Strictly guarantees 0% duplicate questions per topic across weekly revision plans.</a:t>
            </a:r>
          </a:p>
          <a:p>
            <a:pPr>
              <a:spcBef>
                <a:spcPts val="800"/>
              </a:spcBef>
              <a:defRPr sz="1100">
                <a:solidFill>
                  <a:srgbClr val="A0AFC8"/>
                </a:solidFill>
              </a:defRPr>
            </a:pPr>
            <a:r>
              <a:t>* If all catalog items were recently practiced, generates unique target drill variants automatically.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CORE MATHEMATICS &amp; SIGNATURE UI</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Recency-Weighted Accuracy &amp; Mastery Terrain</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06</a:t>
            </a:r>
          </a:p>
        </p:txBody>
      </p:sp>
      <p:sp>
        <p:nvSpPr>
          <p:cNvPr id="6" name="Rounded Rectangle 5"/>
          <p:cNvSpPr/>
          <p:nvPr/>
        </p:nvSpPr>
        <p:spPr>
          <a:xfrm>
            <a:off x="731520" y="1371600"/>
            <a:ext cx="5120640" cy="4754880"/>
          </a:xfrm>
          <a:prstGeom prst="roundRect">
            <a:avLst/>
          </a:prstGeom>
          <a:solidFill>
            <a:srgbClr val="121C34"/>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38BDF8"/>
                </a:solidFill>
              </a:defRPr>
            </a:pPr>
            <a:r>
              <a:t>MATHEMATICAL RECENCY DECAY MODEL</a:t>
            </a:r>
          </a:p>
          <a:p>
            <a:pPr>
              <a:spcBef>
                <a:spcPts val="800"/>
              </a:spcBef>
              <a:defRPr sz="1200" b="1">
                <a:solidFill>
                  <a:srgbClr val="F59E0B"/>
                </a:solidFill>
              </a:defRPr>
            </a:pPr>
            <a:r>
              <a:t>1. Exponential Decay Weighting</a:t>
            </a:r>
          </a:p>
          <a:p>
            <a:pPr>
              <a:defRPr sz="1050">
                <a:solidFill>
                  <a:srgbClr val="A0AFC8"/>
                </a:solidFill>
              </a:defRPr>
            </a:pPr>
            <a:r>
              <a:t>w_i = exp(-lambda * (t_now - t_i)), where lambda = ln(2) / tau with half-life tau = 7 days (604,800s). Recent attempts carry dramatically higher influence than old successes.</a:t>
            </a:r>
          </a:p>
          <a:p>
            <a:pPr>
              <a:spcBef>
                <a:spcPts val="800"/>
              </a:spcBef>
              <a:defRPr sz="1200" b="1">
                <a:solidFill>
                  <a:srgbClr val="F59E0B"/>
                </a:solidFill>
              </a:defRPr>
            </a:pPr>
            <a:r>
              <a:t>2. Recency-Weighted Accuracy</a:t>
            </a:r>
          </a:p>
          <a:p>
            <a:pPr>
              <a:defRPr sz="1050">
                <a:solidFill>
                  <a:srgbClr val="A0AFC8"/>
                </a:solidFill>
              </a:defRPr>
            </a:pPr>
            <a:r>
              <a:t>Acc_w(T) = sum(w_i * is_correct_i) / sum(w_i). Unifies historical mastery with immediate recall state.</a:t>
            </a:r>
          </a:p>
          <a:p>
            <a:pPr>
              <a:spcBef>
                <a:spcPts val="800"/>
              </a:spcBef>
              <a:defRPr sz="1200" b="1">
                <a:solidFill>
                  <a:srgbClr val="F59E0B"/>
                </a:solidFill>
              </a:defRPr>
            </a:pPr>
            <a:r>
              <a:t>3. Streak Penalty &amp; Urgency</a:t>
            </a:r>
          </a:p>
          <a:p>
            <a:pPr>
              <a:defRPr sz="1050">
                <a:solidFill>
                  <a:srgbClr val="A0AFC8"/>
                </a:solidFill>
              </a:defRPr>
            </a:pPr>
            <a:r>
              <a:t>Weakness = (1.0 - Acc_w) * (1.0 + 0.20 * min(streak, 4)). Penalizes consecutive recent failures immediately into CRITICAL status regardless of ancient quiz scores.</a:t>
            </a:r>
          </a:p>
          <a:p>
            <a:pPr>
              <a:spcBef>
                <a:spcPts val="800"/>
              </a:spcBef>
              <a:defRPr sz="1200" b="1">
                <a:solidFill>
                  <a:srgbClr val="F59E0B"/>
                </a:solidFill>
              </a:defRPr>
            </a:pPr>
            <a:r>
              <a:t>4. Readiness Telemetry (0 - 100%)</a:t>
            </a:r>
          </a:p>
          <a:p>
            <a:pPr>
              <a:defRPr sz="1050">
                <a:solidFill>
                  <a:srgbClr val="A0AFC8"/>
                </a:solidFill>
              </a:defRPr>
            </a:pPr>
            <a:r>
              <a:t>Curriculum-wide readiness score computed across topics with historical trend delta (+/- vs previous checkpoint).</a:t>
            </a:r>
          </a:p>
        </p:txBody>
      </p:sp>
      <p:sp>
        <p:nvSpPr>
          <p:cNvPr id="7" name="Rounded Rectangle 6"/>
          <p:cNvSpPr/>
          <p:nvPr/>
        </p:nvSpPr>
        <p:spPr>
          <a:xfrm>
            <a:off x="6217920" y="1371600"/>
            <a:ext cx="5212080" cy="4754880"/>
          </a:xfrm>
          <a:prstGeom prst="roundRect">
            <a:avLst/>
          </a:prstGeom>
          <a:solidFill>
            <a:srgbClr val="121C34"/>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43F5E"/>
                </a:solidFill>
              </a:defRPr>
            </a:pPr>
            <a:r>
              <a:t>SIGNATURE VISUAL MOMENT: WEAKNESS TERRAIN</a:t>
            </a:r>
          </a:p>
          <a:p>
            <a:pPr>
              <a:spcBef>
                <a:spcPts val="800"/>
              </a:spcBef>
              <a:defRPr sz="1200" b="1">
                <a:solidFill>
                  <a:srgbClr val="F8FAFC"/>
                </a:solidFill>
              </a:defRPr>
            </a:pPr>
            <a:r>
              <a:t>Topological Elevation vs Generic Charts</a:t>
            </a:r>
          </a:p>
          <a:p>
            <a:pPr>
              <a:defRPr sz="1050">
                <a:solidFill>
                  <a:srgbClr val="A0AFC8"/>
                </a:solidFill>
              </a:defRPr>
            </a:pPr>
            <a:r>
              <a:t>Replaces standard SaaS bar/pie charts with an organic, smoothed terrain curve plotted using SVG cubic Bezier spline interpolation.</a:t>
            </a:r>
          </a:p>
          <a:p>
            <a:pPr>
              <a:spcBef>
                <a:spcPts val="800"/>
              </a:spcBef>
              <a:defRPr sz="1200" b="1">
                <a:solidFill>
                  <a:srgbClr val="F8FAFC"/>
                </a:solidFill>
              </a:defRPr>
            </a:pPr>
            <a:r>
              <a:t>Summit Elevation = Weakness Intensity</a:t>
            </a:r>
          </a:p>
          <a:p>
            <a:pPr>
              <a:defRPr sz="1050">
                <a:solidFill>
                  <a:srgbClr val="A0AFC8"/>
                </a:solidFill>
              </a:defRPr>
            </a:pPr>
            <a:r>
              <a:t>High mountain peaks (&gt;75m elevation) represent urgent challenge zones (e.g. Dynamic Programming); mastered domains form conquered valleys and plains (&lt;25m).</a:t>
            </a:r>
          </a:p>
          <a:p>
            <a:pPr>
              <a:spcBef>
                <a:spcPts val="800"/>
              </a:spcBef>
              <a:defRPr sz="1200" b="1">
                <a:solidFill>
                  <a:srgbClr val="F8FAFC"/>
                </a:solidFill>
              </a:defRPr>
            </a:pPr>
            <a:r>
              <a:t>Interactive Telemetry Beacons</a:t>
            </a:r>
          </a:p>
          <a:p>
            <a:pPr>
              <a:defRPr sz="1050">
                <a:solidFill>
                  <a:srgbClr val="A0AFC8"/>
                </a:solidFill>
              </a:defRPr>
            </a:pPr>
            <a:r>
              <a:t>Glowing anchor nodes with radar ripple effects on hover/focus, revealing real-time accuracy %, failure streaks, and attempt counts.</a:t>
            </a:r>
          </a:p>
          <a:p>
            <a:pPr>
              <a:spcBef>
                <a:spcPts val="800"/>
              </a:spcBef>
              <a:defRPr sz="1200" b="1">
                <a:solidFill>
                  <a:srgbClr val="F8FAFC"/>
                </a:solidFill>
              </a:defRPr>
            </a:pPr>
            <a:r>
              <a:t>Zero Cumulative Layout Shift (CLS)</a:t>
            </a:r>
          </a:p>
          <a:p>
            <a:pPr>
              <a:defRPr sz="1050">
                <a:solidFill>
                  <a:srgbClr val="A0AFC8"/>
                </a:solidFill>
              </a:defRPr>
            </a:pPr>
            <a:r>
              <a:t>Fixed aspect-ratio containers with shimmering precision skeletons ensure zero layout shift during async backend loading.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REAL-WORLD IMPACT</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Usability &amp; Target Applications</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07</a:t>
            </a:r>
          </a:p>
        </p:txBody>
      </p:sp>
      <p:sp>
        <p:nvSpPr>
          <p:cNvPr id="6" name="Rounded Rectangle 5"/>
          <p:cNvSpPr/>
          <p:nvPr/>
        </p:nvSpPr>
        <p:spPr>
          <a:xfrm>
            <a:off x="731520" y="1371600"/>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[S]  Software Engineers &amp; Tech Aspirants</a:t>
            </a:r>
          </a:p>
          <a:p>
            <a:pPr>
              <a:spcBef>
                <a:spcPts val="800"/>
              </a:spcBef>
              <a:defRPr sz="1100">
                <a:solidFill>
                  <a:srgbClr val="A0AFC8"/>
                </a:solidFill>
              </a:defRPr>
            </a:pPr>
            <a:r>
              <a:t>Targeted DSA preparation for students and professionals grinding LeetCode in Java for top-tier software engineering interviews.</a:t>
            </a:r>
          </a:p>
        </p:txBody>
      </p:sp>
      <p:sp>
        <p:nvSpPr>
          <p:cNvPr id="7" name="Rounded Rectangle 6"/>
          <p:cNvSpPr/>
          <p:nvPr/>
        </p:nvSpPr>
        <p:spPr>
          <a:xfrm>
            <a:off x="4389120" y="1371600"/>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[C]  Competitive Programming Aspirants</a:t>
            </a:r>
          </a:p>
          <a:p>
            <a:pPr>
              <a:spcBef>
                <a:spcPts val="800"/>
              </a:spcBef>
              <a:defRPr sz="1100">
                <a:solidFill>
                  <a:srgbClr val="A0AFC8"/>
                </a:solidFill>
              </a:defRPr>
            </a:pPr>
            <a:r>
              <a:t>Eliminates blind spots across complex graph algorithms, dynamic programming transitions, and monotonic stacks.</a:t>
            </a:r>
          </a:p>
        </p:txBody>
      </p:sp>
      <p:sp>
        <p:nvSpPr>
          <p:cNvPr id="8" name="Rounded Rectangle 7"/>
          <p:cNvSpPr/>
          <p:nvPr/>
        </p:nvSpPr>
        <p:spPr>
          <a:xfrm>
            <a:off x="8046720" y="1371600"/>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0B981"/>
                </a:solidFill>
              </a:defRPr>
            </a:pPr>
            <a:r>
              <a:t>[O]  Online EdTech &amp; Bootcamp Platforms</a:t>
            </a:r>
          </a:p>
          <a:p>
            <a:pPr>
              <a:spcBef>
                <a:spcPts val="800"/>
              </a:spcBef>
              <a:defRPr sz="1100">
                <a:solidFill>
                  <a:srgbClr val="A0AFC8"/>
                </a:solidFill>
              </a:defRPr>
            </a:pPr>
            <a:r>
              <a:t>Drop-in adaptive intelligence module that turns static quiz platforms into personalized learning twins.</a:t>
            </a:r>
          </a:p>
        </p:txBody>
      </p:sp>
      <p:sp>
        <p:nvSpPr>
          <p:cNvPr id="9" name="Rounded Rectangle 8"/>
          <p:cNvSpPr/>
          <p:nvPr/>
        </p:nvSpPr>
        <p:spPr>
          <a:xfrm>
            <a:off x="731520" y="3749039"/>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43F5E"/>
                </a:solidFill>
              </a:defRPr>
            </a:pPr>
            <a:r>
              <a:t>[T]  Universities &amp; CS Instructors</a:t>
            </a:r>
          </a:p>
          <a:p>
            <a:pPr>
              <a:spcBef>
                <a:spcPts val="800"/>
              </a:spcBef>
              <a:defRPr sz="1100">
                <a:solidFill>
                  <a:srgbClr val="A0AFC8"/>
                </a:solidFill>
              </a:defRPr>
            </a:pPr>
            <a:r>
              <a:t>Class-level telemetry surfaces syllabus topics where students struggle most, enabling data-driven remedial lectures.</a:t>
            </a:r>
          </a:p>
        </p:txBody>
      </p:sp>
      <p:sp>
        <p:nvSpPr>
          <p:cNvPr id="10" name="Rounded Rectangle 9"/>
          <p:cNvSpPr/>
          <p:nvPr/>
        </p:nvSpPr>
        <p:spPr>
          <a:xfrm>
            <a:off x="4389120" y="3749039"/>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[L]  Autonomous Self-Learners</a:t>
            </a:r>
          </a:p>
          <a:p>
            <a:pPr>
              <a:spcBef>
                <a:spcPts val="800"/>
              </a:spcBef>
              <a:defRPr sz="1100">
                <a:solidFill>
                  <a:srgbClr val="A0AFC8"/>
                </a:solidFill>
              </a:defRPr>
            </a:pPr>
            <a:r>
              <a:t>Provides a structured, dynamically evolving 7-day revision trajectory without requiring an expensive private tutor.</a:t>
            </a:r>
          </a:p>
        </p:txBody>
      </p:sp>
      <p:sp>
        <p:nvSpPr>
          <p:cNvPr id="11" name="Rounded Rectangle 10"/>
          <p:cNvSpPr/>
          <p:nvPr/>
        </p:nvSpPr>
        <p:spPr>
          <a:xfrm>
            <a:off x="8046720" y="3749039"/>
            <a:ext cx="3383280" cy="219456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[R]  Enterprise &amp; Certification Training</a:t>
            </a:r>
          </a:p>
          <a:p>
            <a:pPr>
              <a:spcBef>
                <a:spcPts val="800"/>
              </a:spcBef>
              <a:defRPr sz="1100">
                <a:solidFill>
                  <a:srgbClr val="A0AFC8"/>
                </a:solidFill>
              </a:defRPr>
            </a:pPr>
            <a:r>
              <a:t>Enables technical companies to train enterprise software teams on modern Java backend patterns with targeted drills.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TEAM EXECUTION</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Contribution of Each Member</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08</a:t>
            </a:r>
          </a:p>
        </p:txBody>
      </p:sp>
      <p:graphicFrame>
        <p:nvGraphicFramePr>
          <p:cNvPr id="6" name="Table 5"/>
          <p:cNvGraphicFramePr>
            <a:graphicFrameLocks noGrp="1"/>
          </p:cNvGraphicFramePr>
          <p:nvPr/>
        </p:nvGraphicFramePr>
        <p:xfrm>
          <a:off x="731520" y="1371600"/>
          <a:ext cx="10698480" cy="4754880"/>
        </p:xfrm>
        <a:graphic>
          <a:graphicData uri="http://schemas.openxmlformats.org/drawingml/2006/table">
            <a:tbl>
              <a:tblPr firstRow="1" bandRow="1">
                <a:tableStyleId>{5C22544A-7EE6-4342-B048-85BDC9FD1C3A}</a:tableStyleId>
              </a:tblPr>
              <a:tblGrid>
                <a:gridCol w="1828800"/>
                <a:gridCol w="2926080"/>
                <a:gridCol w="5943600"/>
              </a:tblGrid>
              <a:tr h="679268">
                <a:tc>
                  <a:txBody>
                    <a:bodyPr/>
                    <a:lstStyle/>
                    <a:p>
                      <a:pPr>
                        <a:defRPr sz="1300" b="1">
                          <a:solidFill>
                            <a:srgbClr val="38BDF8"/>
                          </a:solidFill>
                        </a:defRPr>
                      </a:pPr>
                      <a:r>
                        <a:t>Team Member</a:t>
                      </a:r>
                    </a:p>
                  </a:txBody>
                  <a:tcPr>
                    <a:solidFill>
                      <a:srgbClr val="162442"/>
                    </a:solidFill>
                  </a:tcPr>
                </a:tc>
                <a:tc>
                  <a:txBody>
                    <a:bodyPr/>
                    <a:lstStyle/>
                    <a:p>
                      <a:pPr>
                        <a:defRPr sz="1300" b="1">
                          <a:solidFill>
                            <a:srgbClr val="38BDF8"/>
                          </a:solidFill>
                        </a:defRPr>
                      </a:pPr>
                      <a:r>
                        <a:t>Role</a:t>
                      </a:r>
                    </a:p>
                  </a:txBody>
                  <a:tcPr>
                    <a:solidFill>
                      <a:srgbClr val="162442"/>
                    </a:solidFill>
                  </a:tcPr>
                </a:tc>
                <a:tc>
                  <a:txBody>
                    <a:bodyPr/>
                    <a:lstStyle/>
                    <a:p>
                      <a:pPr>
                        <a:defRPr sz="1300" b="1">
                          <a:solidFill>
                            <a:srgbClr val="38BDF8"/>
                          </a:solidFill>
                        </a:defRPr>
                      </a:pPr>
                      <a:r>
                        <a:t>Key Engineering Contribution</a:t>
                      </a:r>
                    </a:p>
                  </a:txBody>
                  <a:tcPr>
                    <a:solidFill>
                      <a:srgbClr val="162442"/>
                    </a:solidFill>
                  </a:tcPr>
                </a:tc>
              </a:tr>
              <a:tr h="679268">
                <a:tc>
                  <a:txBody>
                    <a:bodyPr/>
                    <a:lstStyle/>
                    <a:p>
                      <a:pPr>
                        <a:defRPr sz="1100" b="1">
                          <a:solidFill>
                            <a:srgbClr val="F59E0B"/>
                          </a:solidFill>
                        </a:defRPr>
                      </a:pPr>
                      <a:r>
                        <a:t>Member 1</a:t>
                      </a:r>
                    </a:p>
                  </a:txBody>
                  <a:tcPr>
                    <a:solidFill>
                      <a:srgbClr val="121C34"/>
                    </a:solidFill>
                  </a:tcPr>
                </a:tc>
                <a:tc>
                  <a:txBody>
                    <a:bodyPr/>
                    <a:lstStyle/>
                    <a:p>
                      <a:pPr>
                        <a:defRPr sz="1100">
                          <a:solidFill>
                            <a:srgbClr val="F8FAFC"/>
                          </a:solidFill>
                        </a:defRPr>
                      </a:pPr>
                      <a:r>
                        <a:t>Team Lead / Backend Developer</a:t>
                      </a:r>
                    </a:p>
                  </a:txBody>
                  <a:tcPr>
                    <a:solidFill>
                      <a:srgbClr val="121C34"/>
                    </a:solidFill>
                  </a:tcPr>
                </a:tc>
                <a:tc>
                  <a:txBody>
                    <a:bodyPr/>
                    <a:lstStyle/>
                    <a:p>
                      <a:pPr>
                        <a:defRPr sz="1100">
                          <a:solidFill>
                            <a:srgbClr val="A0AFC8"/>
                          </a:solidFill>
                        </a:defRPr>
                      </a:pPr>
                      <a:r>
                        <a:t>Agent architecture, FastAPI async routes, non-blocking job manager &amp; recency decay analytics.</a:t>
                      </a:r>
                    </a:p>
                  </a:txBody>
                  <a:tcPr>
                    <a:solidFill>
                      <a:srgbClr val="121C34"/>
                    </a:solidFill>
                  </a:tcPr>
                </a:tc>
              </a:tr>
              <a:tr h="679268">
                <a:tc>
                  <a:txBody>
                    <a:bodyPr/>
                    <a:lstStyle/>
                    <a:p>
                      <a:pPr>
                        <a:defRPr sz="1100" b="1">
                          <a:solidFill>
                            <a:srgbClr val="F59E0B"/>
                          </a:solidFill>
                        </a:defRPr>
                      </a:pPr>
                      <a:r>
                        <a:t>Member 2</a:t>
                      </a:r>
                    </a:p>
                  </a:txBody>
                  <a:tcPr>
                    <a:solidFill>
                      <a:srgbClr val="121C34"/>
                    </a:solidFill>
                  </a:tcPr>
                </a:tc>
                <a:tc>
                  <a:txBody>
                    <a:bodyPr/>
                    <a:lstStyle/>
                    <a:p>
                      <a:pPr>
                        <a:defRPr sz="1100">
                          <a:solidFill>
                            <a:srgbClr val="F8FAFC"/>
                          </a:solidFill>
                        </a:defRPr>
                      </a:pPr>
                      <a:r>
                        <a:t>Data &amp; Scraper Engineer</a:t>
                      </a:r>
                    </a:p>
                  </a:txBody>
                  <a:tcPr>
                    <a:solidFill>
                      <a:srgbClr val="121C34"/>
                    </a:solidFill>
                  </a:tcPr>
                </a:tc>
                <a:tc>
                  <a:txBody>
                    <a:bodyPr/>
                    <a:lstStyle/>
                    <a:p>
                      <a:pPr>
                        <a:defRPr sz="1100">
                          <a:solidFill>
                            <a:srgbClr val="A0AFC8"/>
                          </a:solidFill>
                        </a:defRPr>
                      </a:pPr>
                      <a:r>
                        <a:t>LeetCode Java web scraper &amp; GraphQL pipeline, problem catalog curation &amp; database source of truth.</a:t>
                      </a:r>
                    </a:p>
                  </a:txBody>
                  <a:tcPr>
                    <a:solidFill>
                      <a:srgbClr val="121C34"/>
                    </a:solidFill>
                  </a:tcPr>
                </a:tc>
              </a:tr>
              <a:tr h="679268">
                <a:tc>
                  <a:txBody>
                    <a:bodyPr/>
                    <a:lstStyle/>
                    <a:p>
                      <a:pPr>
                        <a:defRPr sz="1100" b="1">
                          <a:solidFill>
                            <a:srgbClr val="F59E0B"/>
                          </a:solidFill>
                        </a:defRPr>
                      </a:pPr>
                      <a:r>
                        <a:t>Member 3</a:t>
                      </a:r>
                    </a:p>
                  </a:txBody>
                  <a:tcPr>
                    <a:solidFill>
                      <a:srgbClr val="121C34"/>
                    </a:solidFill>
                  </a:tcPr>
                </a:tc>
                <a:tc>
                  <a:txBody>
                    <a:bodyPr/>
                    <a:lstStyle/>
                    <a:p>
                      <a:pPr>
                        <a:defRPr sz="1100">
                          <a:solidFill>
                            <a:srgbClr val="F8FAFC"/>
                          </a:solidFill>
                        </a:defRPr>
                      </a:pPr>
                      <a:r>
                        <a:t>AI &amp; Planning Engineer</a:t>
                      </a:r>
                    </a:p>
                  </a:txBody>
                  <a:tcPr>
                    <a:solidFill>
                      <a:srgbClr val="121C34"/>
                    </a:solidFill>
                  </a:tcPr>
                </a:tc>
                <a:tc>
                  <a:txBody>
                    <a:bodyPr/>
                    <a:lstStyle/>
                    <a:p>
                      <a:pPr>
                        <a:defRPr sz="1100">
                          <a:solidFill>
                            <a:srgbClr val="A0AFC8"/>
                          </a:solidFill>
                        </a:defRPr>
                      </a:pPr>
                      <a:r>
                        <a:t>Deterministic 7-day study planner, Pydantic strict schema contract &amp; 0% duplicate guardrail.</a:t>
                      </a:r>
                    </a:p>
                  </a:txBody>
                  <a:tcPr>
                    <a:solidFill>
                      <a:srgbClr val="121C34"/>
                    </a:solidFill>
                  </a:tcPr>
                </a:tc>
              </a:tr>
              <a:tr h="679268">
                <a:tc>
                  <a:txBody>
                    <a:bodyPr/>
                    <a:lstStyle/>
                    <a:p>
                      <a:pPr>
                        <a:defRPr sz="1100" b="1">
                          <a:solidFill>
                            <a:srgbClr val="F59E0B"/>
                          </a:solidFill>
                        </a:defRPr>
                      </a:pPr>
                      <a:r>
                        <a:t>Member 4</a:t>
                      </a:r>
                    </a:p>
                  </a:txBody>
                  <a:tcPr>
                    <a:solidFill>
                      <a:srgbClr val="121C34"/>
                    </a:solidFill>
                  </a:tcPr>
                </a:tc>
                <a:tc>
                  <a:txBody>
                    <a:bodyPr/>
                    <a:lstStyle/>
                    <a:p>
                      <a:pPr>
                        <a:defRPr sz="1100">
                          <a:solidFill>
                            <a:srgbClr val="F8FAFC"/>
                          </a:solidFill>
                        </a:defRPr>
                      </a:pPr>
                      <a:r>
                        <a:t>Frontend UI / UX Developer</a:t>
                      </a:r>
                    </a:p>
                  </a:txBody>
                  <a:tcPr>
                    <a:solidFill>
                      <a:srgbClr val="121C34"/>
                    </a:solidFill>
                  </a:tcPr>
                </a:tc>
                <a:tc>
                  <a:txBody>
                    <a:bodyPr/>
                    <a:lstStyle/>
                    <a:p>
                      <a:pPr>
                        <a:defRPr sz="1100">
                          <a:solidFill>
                            <a:srgbClr val="A0AFC8"/>
                          </a:solidFill>
                        </a:defRPr>
                      </a:pPr>
                      <a:r>
                        <a:t>Instrument-panel design system, smoothed terrain curve (SVG Bézier) &amp; Java practice question drawer.</a:t>
                      </a:r>
                    </a:p>
                  </a:txBody>
                  <a:tcPr>
                    <a:solidFill>
                      <a:srgbClr val="121C34"/>
                    </a:solidFill>
                  </a:tcPr>
                </a:tc>
              </a:tr>
              <a:tr h="679268">
                <a:tc>
                  <a:txBody>
                    <a:bodyPr/>
                    <a:lstStyle/>
                    <a:p>
                      <a:pPr>
                        <a:defRPr sz="1100" b="1">
                          <a:solidFill>
                            <a:srgbClr val="F59E0B"/>
                          </a:solidFill>
                        </a:defRPr>
                      </a:pPr>
                      <a:r>
                        <a:t>Member 5</a:t>
                      </a:r>
                    </a:p>
                  </a:txBody>
                  <a:tcPr>
                    <a:solidFill>
                      <a:srgbClr val="121C34"/>
                    </a:solidFill>
                  </a:tcPr>
                </a:tc>
                <a:tc>
                  <a:txBody>
                    <a:bodyPr/>
                    <a:lstStyle/>
                    <a:p>
                      <a:pPr>
                        <a:defRPr sz="1100">
                          <a:solidFill>
                            <a:srgbClr val="F8FAFC"/>
                          </a:solidFill>
                        </a:defRPr>
                      </a:pPr>
                      <a:r>
                        <a:t>Testing &amp; Verification Lead</a:t>
                      </a:r>
                    </a:p>
                  </a:txBody>
                  <a:tcPr>
                    <a:solidFill>
                      <a:srgbClr val="121C34"/>
                    </a:solidFill>
                  </a:tcPr>
                </a:tc>
                <a:tc>
                  <a:txBody>
                    <a:bodyPr/>
                    <a:lstStyle/>
                    <a:p>
                      <a:pPr>
                        <a:defRPr sz="1100">
                          <a:solidFill>
                            <a:srgbClr val="A0AFC8"/>
                          </a:solidFill>
                        </a:defRPr>
                      </a:pPr>
                      <a:r>
                        <a:t>Automated PyTest suite (recency decay math, p95 &lt;300ms SLA, Pydantic validation &amp; zero duplicate check).</a:t>
                      </a:r>
                    </a:p>
                  </a:txBody>
                  <a:tcPr>
                    <a:solidFill>
                      <a:srgbClr val="121C34"/>
                    </a:solidFill>
                  </a:tcPr>
                </a:tc>
              </a:tr>
              <a:tr h="679272">
                <a:tc>
                  <a:txBody>
                    <a:bodyPr/>
                    <a:lstStyle/>
                    <a:p>
                      <a:pPr>
                        <a:defRPr sz="1100" b="1">
                          <a:solidFill>
                            <a:srgbClr val="F59E0B"/>
                          </a:solidFill>
                        </a:defRPr>
                      </a:pPr>
                      <a:r>
                        <a:t>Member 6</a:t>
                      </a:r>
                    </a:p>
                  </a:txBody>
                  <a:tcPr>
                    <a:solidFill>
                      <a:srgbClr val="121C34"/>
                    </a:solidFill>
                  </a:tcPr>
                </a:tc>
                <a:tc>
                  <a:txBody>
                    <a:bodyPr/>
                    <a:lstStyle/>
                    <a:p>
                      <a:pPr>
                        <a:defRPr sz="1100">
                          <a:solidFill>
                            <a:srgbClr val="F8FAFC"/>
                          </a:solidFill>
                        </a:defRPr>
                      </a:pPr>
                      <a:r>
                        <a:t>Research &amp; DevOps Engineer</a:t>
                      </a:r>
                    </a:p>
                  </a:txBody>
                  <a:tcPr>
                    <a:solidFill>
                      <a:srgbClr val="121C34"/>
                    </a:solidFill>
                  </a:tcPr>
                </a:tc>
                <a:tc>
                  <a:txBody>
                    <a:bodyPr/>
                    <a:lstStyle/>
                    <a:p>
                      <a:pPr>
                        <a:defRPr sz="1100">
                          <a:solidFill>
                            <a:srgbClr val="A0AFC8"/>
                          </a:solidFill>
                        </a:defRPr>
                      </a:pPr>
                      <a:r>
                        <a:t>Literature grounding (Ebbinghaus decay), cloud deployment readiness &amp; demonstration benchmarking.</a:t>
                      </a:r>
                    </a:p>
                  </a:txBody>
                  <a:tcPr>
                    <a:solidFill>
                      <a:srgbClr val="121C3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0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a:spAutoFit/>
          </a:bodyPr>
          <a:lstStyle/>
          <a:p>
            <a:pPr>
              <a:defRPr sz="1100" b="1">
                <a:solidFill>
                  <a:srgbClr val="38BDF8"/>
                </a:solidFill>
                <a:latin typeface="Arial"/>
              </a:defRPr>
            </a:pPr>
            <a:r>
              <a:t>ACADEMIC &amp; TECHNICAL FOUNDATIONS</a:t>
            </a:r>
          </a:p>
        </p:txBody>
      </p:sp>
      <p:sp>
        <p:nvSpPr>
          <p:cNvPr id="4" name="TextBox 3"/>
          <p:cNvSpPr txBox="1"/>
          <p:nvPr/>
        </p:nvSpPr>
        <p:spPr>
          <a:xfrm>
            <a:off x="731520" y="640080"/>
            <a:ext cx="9144000" cy="548640"/>
          </a:xfrm>
          <a:prstGeom prst="rect">
            <a:avLst/>
          </a:prstGeom>
          <a:noFill/>
        </p:spPr>
        <p:txBody>
          <a:bodyPr wrap="square">
            <a:spAutoFit/>
          </a:bodyPr>
          <a:lstStyle/>
          <a:p>
            <a:pPr>
              <a:defRPr sz="2400" b="1">
                <a:solidFill>
                  <a:srgbClr val="F8FAFC"/>
                </a:solidFill>
                <a:latin typeface="Arial"/>
              </a:defRPr>
            </a:pPr>
            <a:r>
              <a:t>References &amp; Documentation</a:t>
            </a:r>
          </a:p>
        </p:txBody>
      </p:sp>
      <p:sp>
        <p:nvSpPr>
          <p:cNvPr id="5" name="TextBox 4"/>
          <p:cNvSpPr txBox="1"/>
          <p:nvPr/>
        </p:nvSpPr>
        <p:spPr>
          <a:xfrm>
            <a:off x="9601200" y="6400800"/>
            <a:ext cx="1828800" cy="274320"/>
          </a:xfrm>
          <a:prstGeom prst="rect">
            <a:avLst/>
          </a:prstGeom>
          <a:noFill/>
        </p:spPr>
        <p:txBody>
          <a:bodyPr wrap="none">
            <a:spAutoFit/>
          </a:bodyPr>
          <a:lstStyle/>
          <a:p>
            <a:pPr algn="r">
              <a:defRPr sz="1000">
                <a:solidFill>
                  <a:srgbClr val="64748B"/>
                </a:solidFill>
                <a:latin typeface="Arial"/>
              </a:defRPr>
            </a:pPr>
            <a:r>
              <a:t>DIGITAL TWIN — 09</a:t>
            </a:r>
          </a:p>
        </p:txBody>
      </p:sp>
      <p:sp>
        <p:nvSpPr>
          <p:cNvPr id="6" name="Rounded Rectangle 5"/>
          <p:cNvSpPr/>
          <p:nvPr/>
        </p:nvSpPr>
        <p:spPr>
          <a:xfrm>
            <a:off x="731520" y="137160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[1]  LeetCode API &amp; Problemset Taxonomy — Public GraphQL schema and algorithmic coding taxonomy for Java DSA problems (leetcode.com).</a:t>
            </a:r>
          </a:p>
        </p:txBody>
      </p:sp>
      <p:sp>
        <p:nvSpPr>
          <p:cNvPr id="7" name="Rounded Rectangle 6"/>
          <p:cNvSpPr/>
          <p:nvPr/>
        </p:nvSpPr>
        <p:spPr>
          <a:xfrm>
            <a:off x="731520" y="214884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[2]  Pydantic v2 Documentation — Server-side data validation, deterministic schema enforcement, and JSON contract validation (docs.pydantic.dev).</a:t>
            </a:r>
          </a:p>
        </p:txBody>
      </p:sp>
      <p:sp>
        <p:nvSpPr>
          <p:cNvPr id="8" name="Rounded Rectangle 7"/>
          <p:cNvSpPr/>
          <p:nvPr/>
        </p:nvSpPr>
        <p:spPr>
          <a:xfrm>
            <a:off x="731520" y="292608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[3]  FastAPI Async Web Framework — High-performance async Python backend architecture and Starlette event loop specifications (fastapi.tiangolo.com).</a:t>
            </a:r>
          </a:p>
        </p:txBody>
      </p:sp>
      <p:sp>
        <p:nvSpPr>
          <p:cNvPr id="9" name="Rounded Rectangle 8"/>
          <p:cNvSpPr/>
          <p:nvPr/>
        </p:nvSpPr>
        <p:spPr>
          <a:xfrm>
            <a:off x="731520" y="370332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[4]  Ebbinghaus, H. — Memory &amp; The Forgetting Curve — Memory: A Contribution to Experimental Psychology. Theoretical basis for the 7-day exponential recency decay model.</a:t>
            </a:r>
          </a:p>
        </p:txBody>
      </p:sp>
      <p:sp>
        <p:nvSpPr>
          <p:cNvPr id="10" name="Rounded Rectangle 9"/>
          <p:cNvSpPr/>
          <p:nvPr/>
        </p:nvSpPr>
        <p:spPr>
          <a:xfrm>
            <a:off x="731520" y="448056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[5]  BeautifulSoup4 &amp; HTTPX — Modern async web scraping and HTTP client architectures for Python (curl / GraphQL scraping).</a:t>
            </a:r>
          </a:p>
        </p:txBody>
      </p:sp>
      <p:sp>
        <p:nvSpPr>
          <p:cNvPr id="11" name="Rounded Rectangle 10"/>
          <p:cNvSpPr/>
          <p:nvPr/>
        </p:nvSpPr>
        <p:spPr>
          <a:xfrm>
            <a:off x="731520" y="5257800"/>
            <a:ext cx="10698480" cy="685800"/>
          </a:xfrm>
          <a:prstGeom prst="roundRect">
            <a:avLst/>
          </a:prstGeom>
          <a:solidFill>
            <a:srgbClr val="121C34"/>
          </a:solidFill>
          <a:ln>
            <a:solidFill>
              <a:srgbClr val="1E3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8FAFC"/>
                </a:solidFill>
              </a:defRPr>
            </a:pPr>
            <a:r>
              <a:t>[6]  IEEE Xplore Research Papers — Adaptive learning systems, knowledge tracing, and personalised e-learning algorithms for computer science students.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